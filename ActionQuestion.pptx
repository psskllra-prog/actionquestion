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2" r:id="rId10"/>
    <p:sldId id="263" r:id="rId11"/>
    <p:sldId id="264" r:id="rId12"/>
    <p:sldId id="265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738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000" b="1">
                <a:solidFill>
                  <a:srgbClr val="FFCC00"/>
                </a:solidFill>
              </a:defRPr>
            </a:pPr>
            <a:r>
              <a:t>ACTION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5192"/>
            <a:ext cx="8229600" cy="34624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rPr dirty="0" err="1"/>
              <a:t>Виртуальный</a:t>
            </a:r>
            <a:r>
              <a:rPr dirty="0"/>
              <a:t> </a:t>
            </a:r>
            <a:r>
              <a:rPr dirty="0" err="1"/>
              <a:t>помощник</a:t>
            </a:r>
            <a:r>
              <a:rPr dirty="0"/>
              <a:t> </a:t>
            </a:r>
            <a:r>
              <a:rPr dirty="0" err="1"/>
              <a:t>первой</a:t>
            </a:r>
            <a:r>
              <a:rPr dirty="0"/>
              <a:t> </a:t>
            </a:r>
            <a:r>
              <a:rPr dirty="0" err="1"/>
              <a:t>линии</a:t>
            </a:r>
            <a:r>
              <a:rPr dirty="0"/>
              <a:t> </a:t>
            </a:r>
            <a:r>
              <a:rPr dirty="0" err="1"/>
              <a:t>техподдержки</a:t>
            </a:r>
            <a:r>
              <a:rPr dirty="0"/>
              <a:t>.</a:t>
            </a:r>
            <a:br>
              <a:rPr dirty="0"/>
            </a:b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кейса</a:t>
            </a:r>
            <a:r>
              <a:rPr dirty="0"/>
              <a:t> №2.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sz="2100" dirty="0" err="1"/>
              <a:t>Команда</a:t>
            </a:r>
            <a:r>
              <a:rPr sz="2100" dirty="0"/>
              <a:t>: </a:t>
            </a:r>
            <a:r>
              <a:rPr lang="ru-RU" sz="2100" dirty="0" smtClean="0"/>
              <a:t>студенты гр. </a:t>
            </a:r>
            <a:r>
              <a:rPr sz="2100" dirty="0" smtClean="0"/>
              <a:t>8К52Т</a:t>
            </a:r>
            <a:endParaRPr lang="ru-RU" sz="2100" dirty="0" smtClean="0"/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lang="ru-RU" sz="2100" dirty="0" smtClean="0"/>
              <a:t>Сосновских А.Н.,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lang="ru-RU" sz="2100" dirty="0" err="1" smtClean="0"/>
              <a:t>Майнагашев</a:t>
            </a:r>
            <a:r>
              <a:rPr lang="ru-RU" sz="2100" dirty="0" smtClean="0"/>
              <a:t> Н.А., 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lang="ru-RU" sz="2100" dirty="0" smtClean="0"/>
              <a:t>Муратов Р.Д., 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lang="ru-RU" sz="2100" dirty="0" smtClean="0"/>
              <a:t>Серебряный Р.А., 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lang="ru-RU" sz="2100" dirty="0" err="1" smtClean="0"/>
              <a:t>Друговин</a:t>
            </a:r>
            <a:r>
              <a:rPr lang="ru-RU" sz="2100" dirty="0" smtClean="0"/>
              <a:t> А.Е.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sz="2100" dirty="0" smtClean="0"/>
              <a:t>ВУЗ</a:t>
            </a:r>
            <a:r>
              <a:rPr sz="2100" dirty="0"/>
              <a:t>: ТПУ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t>ПРОБЛЕМА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t>Типовые обращения съедают время первой линии.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743200"/>
            <a:ext cx="2286000" cy="1371600"/>
          </a:xfrm>
          <a:prstGeom prst="roundRect">
            <a:avLst/>
          </a:prstGeom>
          <a:solidFill>
            <a:srgbClr val="333333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Студент ждет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2743200"/>
            <a:ext cx="2286000" cy="1371600"/>
          </a:xfrm>
          <a:prstGeom prst="roundRect">
            <a:avLst/>
          </a:prstGeom>
          <a:solidFill>
            <a:srgbClr val="333333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Специалист: читает, ищет, пишет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2743200"/>
            <a:ext cx="2286000" cy="1371600"/>
          </a:xfrm>
          <a:prstGeom prst="roundRect">
            <a:avLst/>
          </a:prstGeom>
          <a:solidFill>
            <a:srgbClr val="333333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Перегруз линии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t>ЦЕЛЬ: РАЗГРУЗИТЬ ПОДДЕРЖКУ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CC00"/>
                </a:solidFill>
              </a:defRPr>
            </a:pPr>
            <a:r>
              <a:t>60%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автоматизация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CC00"/>
                </a:solidFill>
              </a:defRPr>
            </a:pPr>
            <a:r>
              <a:t>5-7 МИН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256032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на решение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840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CC00"/>
                </a:solidFill>
              </a:defRPr>
            </a:pPr>
            <a:r>
              <a:t>4-5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шагов диалога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84048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CC00"/>
                </a:solidFill>
              </a:defRPr>
            </a:pPr>
            <a:r>
              <a:t>4.2 /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5720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рейтинг CSI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t>РЕШЕНИЕ: AI-БОТ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7654981" cy="306750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2000"/>
              </a:spcAft>
              <a:defRPr sz="3200">
                <a:solidFill>
                  <a:srgbClr val="FFFFFF"/>
                </a:solidFill>
              </a:defRPr>
            </a:pPr>
            <a:r>
              <a:rPr dirty="0"/>
              <a:t>Gemini API (Google AI Studio) </a:t>
            </a:r>
            <a:r>
              <a:rPr dirty="0" err="1" smtClean="0"/>
              <a:t>распознает</a:t>
            </a:r>
            <a:endParaRPr lang="ru-RU" dirty="0" smtClean="0"/>
          </a:p>
          <a:p>
            <a:pPr>
              <a:spcAft>
                <a:spcPts val="2000"/>
              </a:spcAft>
              <a:defRPr sz="3200">
                <a:solidFill>
                  <a:srgbClr val="FFFFFF"/>
                </a:solidFill>
              </a:defRPr>
            </a:pPr>
            <a:r>
              <a:rPr dirty="0" err="1" smtClean="0"/>
              <a:t>свободный</a:t>
            </a:r>
            <a:r>
              <a:rPr dirty="0" smtClean="0"/>
              <a:t> </a:t>
            </a:r>
            <a:r>
              <a:rPr dirty="0" err="1"/>
              <a:t>текст</a:t>
            </a:r>
            <a:r>
              <a:rPr dirty="0"/>
              <a:t>, </a:t>
            </a:r>
            <a:r>
              <a:rPr dirty="0" err="1"/>
              <a:t>генерирует</a:t>
            </a:r>
            <a:r>
              <a:rPr dirty="0"/>
              <a:t> </a:t>
            </a:r>
            <a:r>
              <a:rPr dirty="0" err="1"/>
              <a:t>инструкции</a:t>
            </a:r>
            <a:r>
              <a:rPr dirty="0"/>
              <a:t>, </a:t>
            </a:r>
            <a:endParaRPr lang="ru-RU" dirty="0" smtClean="0"/>
          </a:p>
          <a:p>
            <a:pPr>
              <a:spcAft>
                <a:spcPts val="2000"/>
              </a:spcAft>
              <a:defRPr sz="3200">
                <a:solidFill>
                  <a:srgbClr val="FFFFFF"/>
                </a:solidFill>
              </a:defRPr>
            </a:pPr>
            <a:r>
              <a:rPr dirty="0" err="1" smtClean="0"/>
              <a:t>фильтрует</a:t>
            </a:r>
            <a:r>
              <a:rPr dirty="0" smtClean="0"/>
              <a:t> </a:t>
            </a:r>
            <a:r>
              <a:rPr dirty="0" err="1"/>
              <a:t>оффтоп</a:t>
            </a:r>
            <a:r>
              <a:rPr dirty="0"/>
              <a:t>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 err="1"/>
              <a:t>Естественный</a:t>
            </a:r>
            <a:r>
              <a:rPr dirty="0"/>
              <a:t> </a:t>
            </a:r>
            <a:r>
              <a:rPr dirty="0" err="1"/>
              <a:t>язык</a:t>
            </a:r>
            <a:r>
              <a:rPr dirty="0"/>
              <a:t> </a:t>
            </a:r>
            <a:r>
              <a:rPr dirty="0" err="1"/>
              <a:t>вместо</a:t>
            </a:r>
            <a:r>
              <a:rPr dirty="0"/>
              <a:t> </a:t>
            </a:r>
            <a:r>
              <a:rPr dirty="0" err="1"/>
              <a:t>меню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t>ПОЛЬЗОВАТЕЛЬСКИЙ СЦЕНАРИЙ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4" name="Chevron 3"/>
          <p:cNvSpPr/>
          <p:nvPr/>
        </p:nvSpPr>
        <p:spPr>
          <a:xfrm>
            <a:off x="-488272" y="2743200"/>
            <a:ext cx="2682832" cy="1371600"/>
          </a:xfrm>
          <a:prstGeom prst="chevron">
            <a:avLst/>
          </a:prstGeom>
          <a:solidFill>
            <a:srgbClr val="444444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Свободный</a:t>
            </a:r>
            <a:br/>
            <a:r>
              <a:t>запрос</a:t>
            </a:r>
          </a:p>
        </p:txBody>
      </p:sp>
      <p:sp>
        <p:nvSpPr>
          <p:cNvPr id="5" name="Chevron 4"/>
          <p:cNvSpPr/>
          <p:nvPr/>
        </p:nvSpPr>
        <p:spPr>
          <a:xfrm>
            <a:off x="2059619" y="2743200"/>
            <a:ext cx="2329501" cy="1371600"/>
          </a:xfrm>
          <a:prstGeom prst="chevron">
            <a:avLst/>
          </a:prstGeom>
          <a:solidFill>
            <a:srgbClr val="444444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sz="1600" dirty="0" smtClean="0"/>
              <a:t>ИИ-</a:t>
            </a:r>
            <a:r>
              <a:rPr sz="1600" dirty="0" err="1" smtClean="0"/>
              <a:t>ана</a:t>
            </a:r>
            <a:r>
              <a:rPr lang="ru-RU" sz="1600" dirty="0" smtClean="0"/>
              <a:t>л</a:t>
            </a:r>
            <a:r>
              <a:rPr sz="1600" dirty="0" err="1" smtClean="0"/>
              <a:t>из</a:t>
            </a:r>
            <a:r>
              <a:rPr sz="1600" dirty="0"/>
              <a:t/>
            </a:r>
            <a:br>
              <a:rPr sz="1600" dirty="0"/>
            </a:br>
            <a:r>
              <a:rPr sz="1600" dirty="0"/>
              <a:t>(Gemini)</a:t>
            </a:r>
          </a:p>
        </p:txBody>
      </p:sp>
      <p:sp>
        <p:nvSpPr>
          <p:cNvPr id="6" name="Chevron 5"/>
          <p:cNvSpPr/>
          <p:nvPr/>
        </p:nvSpPr>
        <p:spPr>
          <a:xfrm>
            <a:off x="4252404" y="2743200"/>
            <a:ext cx="2752078" cy="1371600"/>
          </a:xfrm>
          <a:prstGeom prst="chevron">
            <a:avLst/>
          </a:prstGeom>
          <a:solidFill>
            <a:srgbClr val="444444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rPr dirty="0" err="1"/>
              <a:t>Инструкция</a:t>
            </a:r>
            <a:r>
              <a:rPr dirty="0"/>
              <a:t/>
            </a:r>
            <a:br>
              <a:rPr dirty="0"/>
            </a:br>
            <a:r>
              <a:rPr dirty="0"/>
              <a:t>(6 </a:t>
            </a:r>
            <a:r>
              <a:rPr dirty="0" err="1"/>
              <a:t>шагов</a:t>
            </a:r>
            <a:r>
              <a:rPr dirty="0"/>
              <a:t>)</a:t>
            </a:r>
          </a:p>
        </p:txBody>
      </p:sp>
      <p:sp>
        <p:nvSpPr>
          <p:cNvPr id="7" name="Chevron 6"/>
          <p:cNvSpPr/>
          <p:nvPr/>
        </p:nvSpPr>
        <p:spPr>
          <a:xfrm>
            <a:off x="6766559" y="2743200"/>
            <a:ext cx="2661526" cy="1371600"/>
          </a:xfrm>
          <a:prstGeom prst="chevron">
            <a:avLst/>
          </a:prstGeom>
          <a:solidFill>
            <a:srgbClr val="444444"/>
          </a:solidFill>
          <a:ln>
            <a:solidFill>
              <a:srgbClr val="FFC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Эскалация</a:t>
            </a:r>
            <a:br/>
            <a:r>
              <a:t>на куратора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rPr dirty="0"/>
              <a:t>АРХИТЕКТУРА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4" name="Hexagon 3"/>
          <p:cNvSpPr/>
          <p:nvPr/>
        </p:nvSpPr>
        <p:spPr>
          <a:xfrm>
            <a:off x="914400" y="1828800"/>
            <a:ext cx="2286000" cy="1828800"/>
          </a:xfrm>
          <a:prstGeom prst="hexagon">
            <a:avLst/>
          </a:prstGeom>
          <a:solidFill>
            <a:srgbClr val="FFCC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E1E1E"/>
                </a:solidFill>
              </a:defRPr>
            </a:pPr>
            <a:r>
              <a:t>Telegram</a:t>
            </a:r>
            <a:br/>
            <a:r>
              <a:t>(Интерфейс)</a:t>
            </a:r>
          </a:p>
        </p:txBody>
      </p:sp>
      <p:sp>
        <p:nvSpPr>
          <p:cNvPr id="5" name="Hexagon 4"/>
          <p:cNvSpPr/>
          <p:nvPr/>
        </p:nvSpPr>
        <p:spPr>
          <a:xfrm>
            <a:off x="3474720" y="1828800"/>
            <a:ext cx="2286000" cy="1828800"/>
          </a:xfrm>
          <a:prstGeom prst="hexagon">
            <a:avLst/>
          </a:prstGeom>
          <a:solidFill>
            <a:srgbClr val="FFCC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E1E1E"/>
                </a:solidFill>
              </a:defRPr>
            </a:pPr>
            <a:r>
              <a:t>Google Apps Script</a:t>
            </a:r>
            <a:br/>
            <a:r>
              <a:t>(Serverless Backend)</a:t>
            </a:r>
          </a:p>
        </p:txBody>
      </p:sp>
      <p:sp>
        <p:nvSpPr>
          <p:cNvPr id="6" name="Hexagon 5"/>
          <p:cNvSpPr/>
          <p:nvPr/>
        </p:nvSpPr>
        <p:spPr>
          <a:xfrm>
            <a:off x="6035040" y="1828800"/>
            <a:ext cx="2286000" cy="1828800"/>
          </a:xfrm>
          <a:prstGeom prst="hexagon">
            <a:avLst/>
          </a:prstGeom>
          <a:solidFill>
            <a:srgbClr val="FFCC00"/>
          </a:solidFill>
          <a:ln>
            <a:solidFill>
              <a:srgbClr val="1E1E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E1E1E"/>
                </a:solidFill>
              </a:defRPr>
            </a:pPr>
            <a:r>
              <a:t>Gemini API</a:t>
            </a:r>
            <a:br/>
            <a:r>
              <a:t>(LLM Модуль)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-43005" y="4163627"/>
            <a:ext cx="93214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sz="2000" dirty="0" err="1"/>
              <a:t>Ключевое</a:t>
            </a:r>
            <a:r>
              <a:rPr sz="2000" dirty="0"/>
              <a:t> </a:t>
            </a:r>
            <a:r>
              <a:rPr sz="2000" dirty="0" err="1"/>
              <a:t>преимущество</a:t>
            </a:r>
            <a:r>
              <a:rPr sz="2000" dirty="0"/>
              <a:t>: </a:t>
            </a:r>
            <a:r>
              <a:rPr sz="2000" dirty="0" err="1"/>
              <a:t>Бессерверность</a:t>
            </a:r>
            <a:r>
              <a:rPr sz="2000" dirty="0"/>
              <a:t>, </a:t>
            </a:r>
            <a:r>
              <a:rPr sz="2000" dirty="0" err="1"/>
              <a:t>нулевые</a:t>
            </a:r>
            <a:r>
              <a:rPr sz="2000" dirty="0"/>
              <a:t> </a:t>
            </a:r>
            <a:r>
              <a:rPr sz="2000" dirty="0" err="1"/>
              <a:t>затраты</a:t>
            </a:r>
            <a:r>
              <a:rPr sz="2000" dirty="0"/>
              <a:t>, </a:t>
            </a:r>
            <a:r>
              <a:rPr sz="2000" dirty="0" err="1"/>
              <a:t>мгновенная</a:t>
            </a:r>
            <a:r>
              <a:rPr sz="2000" dirty="0"/>
              <a:t> </a:t>
            </a:r>
            <a:r>
              <a:rPr sz="2000" dirty="0" err="1"/>
              <a:t>масштабируемость</a:t>
            </a:r>
            <a:r>
              <a:rPr sz="2000"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143173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5000793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rPr lang="ru-RU" dirty="0" smtClean="0"/>
              <a:t>РАСПРЕДЕЛЕНИЕ РОЛЕЙ</a:t>
            </a:r>
            <a:endParaRPr dirty="0"/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023481"/>
              </p:ext>
            </p:extLst>
          </p:nvPr>
        </p:nvGraphicFramePr>
        <p:xfrm>
          <a:off x="457200" y="1509202"/>
          <a:ext cx="8229598" cy="50398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41325">
                  <a:extLst>
                    <a:ext uri="{9D8B030D-6E8A-4147-A177-3AD203B41FA5}">
                      <a16:colId xmlns:a16="http://schemas.microsoft.com/office/drawing/2014/main" val="1833219459"/>
                    </a:ext>
                  </a:extLst>
                </a:gridCol>
                <a:gridCol w="1610355">
                  <a:extLst>
                    <a:ext uri="{9D8B030D-6E8A-4147-A177-3AD203B41FA5}">
                      <a16:colId xmlns:a16="http://schemas.microsoft.com/office/drawing/2014/main" val="13705509"/>
                    </a:ext>
                  </a:extLst>
                </a:gridCol>
                <a:gridCol w="968774">
                  <a:extLst>
                    <a:ext uri="{9D8B030D-6E8A-4147-A177-3AD203B41FA5}">
                      <a16:colId xmlns:a16="http://schemas.microsoft.com/office/drawing/2014/main" val="664550029"/>
                    </a:ext>
                  </a:extLst>
                </a:gridCol>
                <a:gridCol w="1054129">
                  <a:extLst>
                    <a:ext uri="{9D8B030D-6E8A-4147-A177-3AD203B41FA5}">
                      <a16:colId xmlns:a16="http://schemas.microsoft.com/office/drawing/2014/main" val="3817096334"/>
                    </a:ext>
                  </a:extLst>
                </a:gridCol>
                <a:gridCol w="1019987">
                  <a:extLst>
                    <a:ext uri="{9D8B030D-6E8A-4147-A177-3AD203B41FA5}">
                      <a16:colId xmlns:a16="http://schemas.microsoft.com/office/drawing/2014/main" val="821323976"/>
                    </a:ext>
                  </a:extLst>
                </a:gridCol>
                <a:gridCol w="371292">
                  <a:extLst>
                    <a:ext uri="{9D8B030D-6E8A-4147-A177-3AD203B41FA5}">
                      <a16:colId xmlns:a16="http://schemas.microsoft.com/office/drawing/2014/main" val="578283210"/>
                    </a:ext>
                  </a:extLst>
                </a:gridCol>
                <a:gridCol w="371292">
                  <a:extLst>
                    <a:ext uri="{9D8B030D-6E8A-4147-A177-3AD203B41FA5}">
                      <a16:colId xmlns:a16="http://schemas.microsoft.com/office/drawing/2014/main" val="2926747532"/>
                    </a:ext>
                  </a:extLst>
                </a:gridCol>
                <a:gridCol w="371292">
                  <a:extLst>
                    <a:ext uri="{9D8B030D-6E8A-4147-A177-3AD203B41FA5}">
                      <a16:colId xmlns:a16="http://schemas.microsoft.com/office/drawing/2014/main" val="2402833866"/>
                    </a:ext>
                  </a:extLst>
                </a:gridCol>
                <a:gridCol w="371292">
                  <a:extLst>
                    <a:ext uri="{9D8B030D-6E8A-4147-A177-3AD203B41FA5}">
                      <a16:colId xmlns:a16="http://schemas.microsoft.com/office/drawing/2014/main" val="3479388546"/>
                    </a:ext>
                  </a:extLst>
                </a:gridCol>
                <a:gridCol w="371292">
                  <a:extLst>
                    <a:ext uri="{9D8B030D-6E8A-4147-A177-3AD203B41FA5}">
                      <a16:colId xmlns:a16="http://schemas.microsoft.com/office/drawing/2014/main" val="2729899172"/>
                    </a:ext>
                  </a:extLst>
                </a:gridCol>
                <a:gridCol w="371292">
                  <a:extLst>
                    <a:ext uri="{9D8B030D-6E8A-4147-A177-3AD203B41FA5}">
                      <a16:colId xmlns:a16="http://schemas.microsoft.com/office/drawing/2014/main" val="255736718"/>
                    </a:ext>
                  </a:extLst>
                </a:gridCol>
                <a:gridCol w="307276">
                  <a:extLst>
                    <a:ext uri="{9D8B030D-6E8A-4147-A177-3AD203B41FA5}">
                      <a16:colId xmlns:a16="http://schemas.microsoft.com/office/drawing/2014/main" val="2183610273"/>
                    </a:ext>
                  </a:extLst>
                </a:gridCol>
              </a:tblGrid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Направление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Задача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Исполнитель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Старт (неделя)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Дл-ть (недель)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3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4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5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6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7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2446201753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Аналитика и проектирование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Изучение бизнес-задачи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Аналитик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2713769505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Аналитика и проектирование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Выбор технологического стека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Аналитик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3173083371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Аналитика и проектирование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Проектирование логики (</a:t>
                      </a:r>
                      <a:r>
                        <a:rPr lang="en-US" sz="1100" u="none" strike="noStrike">
                          <a:effectLst/>
                        </a:rPr>
                        <a:t>BPMN-</a:t>
                      </a:r>
                      <a:r>
                        <a:rPr lang="ru-RU" sz="1100" u="none" strike="noStrike">
                          <a:effectLst/>
                        </a:rPr>
                        <a:t>схема)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Аналитик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2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2135687757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Разработка </a:t>
                      </a:r>
                      <a:r>
                        <a:rPr lang="en-US" sz="1100" u="none" strike="noStrike">
                          <a:effectLst/>
                        </a:rPr>
                        <a:t>MVP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Настройка окружения (BotFather, GAS, Webhook)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Разработчики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1796728124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Разработка </a:t>
                      </a:r>
                      <a:r>
                        <a:rPr lang="en-US" sz="1100" u="none" strike="noStrike">
                          <a:effectLst/>
                        </a:rPr>
                        <a:t>MVP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Промпт-инжиниринг (системный промпт </a:t>
                      </a:r>
                      <a:r>
                        <a:rPr lang="en-US" sz="1100" u="none" strike="noStrike">
                          <a:effectLst/>
                        </a:rPr>
                        <a:t>Gemini)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Разработчики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3932959704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Разработка </a:t>
                      </a:r>
                      <a:r>
                        <a:rPr lang="en-US" sz="1100" u="none" strike="noStrike">
                          <a:effectLst/>
                        </a:rPr>
                        <a:t>MVP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Реализация маршрутизации запросов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Разработчики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3534079405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Разработка </a:t>
                      </a:r>
                      <a:r>
                        <a:rPr lang="en-US" sz="1100" u="none" strike="noStrike">
                          <a:effectLst/>
                        </a:rPr>
                        <a:t>MVP</a:t>
                      </a:r>
                      <a:endParaRPr lang="en-US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Разработка системы диалога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Разработчики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1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2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3811572555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Тестирование и отладка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Функциональное тестирование </a:t>
                      </a:r>
                      <a:r>
                        <a:rPr lang="en-US" sz="1100" u="none" strike="noStrike">
                          <a:effectLst/>
                        </a:rPr>
                        <a:t>API-</a:t>
                      </a:r>
                      <a:r>
                        <a:rPr lang="ru-RU" sz="1100" u="none" strike="noStrike">
                          <a:effectLst/>
                        </a:rPr>
                        <a:t>связки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Тестировщик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2409112084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Тестирование и отладка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UX/UI отладка (Markdown, индикация «печатает…»)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Тестировщик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2308690356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Тестирование и отладка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Стресс-тестирование логики ИИ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Тестировщик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138383309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Подготовка к защите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Сборка артефактов (скриншоты, скринкаст)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Команда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760558867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Подготовка к защите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Подготовка презентации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Команда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</a:rPr>
                        <a:t>2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1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extLst>
                  <a:ext uri="{0D108BD9-81ED-4DB2-BD59-A6C34878D82A}">
                    <a16:rowId xmlns:a16="http://schemas.microsoft.com/office/drawing/2014/main" val="4252541690"/>
                  </a:ext>
                </a:extLst>
              </a:tr>
              <a:tr h="313255"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>
                          <a:effectLst/>
                        </a:rPr>
                        <a:t>Финал</a:t>
                      </a:r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ru-RU" sz="1050" u="none" strike="noStrike">
                          <a:effectLst/>
                        </a:rPr>
                        <a:t>Сборка отзывов, анализ наиболее встречающихся проблем</a:t>
                      </a:r>
                      <a:endParaRPr lang="ru-RU" sz="105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274" marR="4274" marT="4274" marB="0" anchor="ctr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Аналитик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---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----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ru-RU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ru-RU" sz="1100" u="none" strike="noStrike" dirty="0">
                          <a:effectLst/>
                        </a:rPr>
                        <a:t> </a:t>
                      </a:r>
                      <a:endParaRPr lang="ru-RU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4274" marR="4274" marT="4274" marB="0" anchor="b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59921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48996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73153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57" y="3038420"/>
            <a:ext cx="1333686" cy="7811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274320"/>
            <a:ext cx="445833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rPr lang="ru-RU" dirty="0" smtClean="0"/>
              <a:t>ИСПОЛЬЗОВАНИЕ ИИ</a:t>
            </a:r>
            <a:endParaRPr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18565" y="1951526"/>
            <a:ext cx="802789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 fontAlgn="base">
              <a:spcBef>
                <a:spcPts val="1200"/>
              </a:spcBef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Какие инструменты</a:t>
            </a:r>
            <a:r>
              <a:rPr lang="en-US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: Gemini API, Google AI Studio.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На каких этапах: проектирование логики, разработка MVP, тестирование и отладка.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 fontAlgn="base">
              <a:spcAft>
                <a:spcPts val="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</a:rPr>
              <a:t>Для каких задач: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fontAlgn="base"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классификация обращений в свободной форме;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генерация пошаговых инструкций;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промпт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-инжиниринг и настройка системного 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промпта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spcAft>
                <a:spcPts val="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калибровка поведения модели на нестандартные запросы (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оффтоп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сленг, обрывочные фразы);</a:t>
            </a:r>
            <a:endParaRPr lang="ru-RU" sz="2000" dirty="0">
              <a:solidFill>
                <a:schemeClr val="bg1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fontAlgn="base">
              <a:spcAft>
                <a:spcPts val="12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мягкое возвращение пользователя к темам </a:t>
            </a:r>
            <a:r>
              <a:rPr lang="ru-RU" sz="2000" dirty="0" err="1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</a:t>
            </a:r>
            <a:r>
              <a:rPr lang="ru-RU" sz="2000" dirty="0">
                <a:solidFill>
                  <a:schemeClr val="bg1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IT.</a:t>
            </a:r>
            <a:endParaRPr lang="ru-RU" sz="20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500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rPr dirty="0"/>
              <a:t>ДЕМОНСТРАЦИЯ MVP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4" name="Rectangle 3"/>
          <p:cNvSpPr/>
          <p:nvPr/>
        </p:nvSpPr>
        <p:spPr>
          <a:xfrm>
            <a:off x="1128944" y="1526959"/>
            <a:ext cx="1722268" cy="1518082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r>
              <a:rPr dirty="0"/>
              <a:t>[ МЕСТО ДЛЯ QR-КОДА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2286000"/>
            <a:ext cx="3696589" cy="224676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FFFF"/>
                </a:solidFill>
              </a:defRPr>
            </a:pPr>
            <a:r>
              <a:rPr dirty="0" err="1"/>
              <a:t>Бот</a:t>
            </a:r>
            <a:r>
              <a:rPr dirty="0"/>
              <a:t> </a:t>
            </a:r>
            <a:r>
              <a:rPr dirty="0" err="1"/>
              <a:t>развернут</a:t>
            </a:r>
            <a:r>
              <a:rPr dirty="0"/>
              <a:t> </a:t>
            </a:r>
            <a:r>
              <a:rPr dirty="0" err="1"/>
              <a:t>онлайн</a:t>
            </a:r>
            <a:r>
              <a:rPr dirty="0"/>
              <a:t>.</a:t>
            </a:r>
            <a:br>
              <a:rPr dirty="0"/>
            </a:br>
            <a:r>
              <a:rPr dirty="0" err="1"/>
              <a:t>Готов</a:t>
            </a:r>
            <a:r>
              <a:rPr dirty="0"/>
              <a:t> к live-</a:t>
            </a:r>
            <a:r>
              <a:rPr dirty="0" err="1"/>
              <a:t>демо</a:t>
            </a:r>
            <a:r>
              <a:rPr dirty="0"/>
              <a:t>.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README и </a:t>
            </a:r>
            <a:r>
              <a:rPr dirty="0" err="1"/>
              <a:t>исходники</a:t>
            </a:r>
            <a:r>
              <a:rPr dirty="0"/>
              <a:t> </a:t>
            </a:r>
            <a:r>
              <a:rPr dirty="0" smtClean="0"/>
              <a:t>в</a:t>
            </a:r>
            <a:endParaRPr lang="ru-RU" dirty="0" smtClean="0"/>
          </a:p>
          <a:p>
            <a:pPr>
              <a:defRPr sz="2800">
                <a:solidFill>
                  <a:srgbClr val="FFFFFF"/>
                </a:solidFill>
              </a:defRPr>
            </a:pPr>
            <a:r>
              <a:rPr dirty="0" err="1" smtClean="0"/>
              <a:t>репозитории</a:t>
            </a:r>
            <a:r>
              <a:rPr dirty="0"/>
              <a:t>.</a:t>
            </a:r>
          </a:p>
        </p:txBody>
      </p:sp>
      <p:sp>
        <p:nvSpPr>
          <p:cNvPr id="6" name="Rectangle 3"/>
          <p:cNvSpPr/>
          <p:nvPr/>
        </p:nvSpPr>
        <p:spPr>
          <a:xfrm>
            <a:off x="1128944" y="3645446"/>
            <a:ext cx="1722268" cy="151248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>
                <a:solidFill>
                  <a:srgbClr val="1E1E1E"/>
                </a:solidFill>
              </a:defRPr>
            </a:pPr>
            <a:r>
              <a:t>[ МЕСТО ДЛЯ QR-КОДА ]</a:t>
            </a:r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3960" y="3693290"/>
            <a:ext cx="1412236" cy="1416791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60" y="1562786"/>
            <a:ext cx="1455611" cy="14464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t>РЕЗУЛЬТАТЫ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63171"/>
            <a:ext cx="8136586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FFCC00"/>
                </a:solidFill>
              </a:defRPr>
            </a:pPr>
            <a:r>
              <a:rPr sz="2600" dirty="0"/>
              <a:t>+ MVP </a:t>
            </a:r>
            <a:r>
              <a:rPr sz="2600" dirty="0" err="1"/>
              <a:t>работает</a:t>
            </a:r>
            <a:r>
              <a:rPr sz="2600" dirty="0"/>
              <a:t>. </a:t>
            </a:r>
            <a:r>
              <a:rPr sz="2600" dirty="0" err="1"/>
              <a:t>Автоэскалация</a:t>
            </a:r>
            <a:r>
              <a:rPr sz="2600" dirty="0"/>
              <a:t> и </a:t>
            </a:r>
            <a:r>
              <a:rPr sz="2600" dirty="0" err="1"/>
              <a:t>логика</a:t>
            </a:r>
            <a:r>
              <a:rPr sz="2600" dirty="0"/>
              <a:t> ИИ </a:t>
            </a:r>
            <a:r>
              <a:rPr sz="2600" dirty="0" err="1"/>
              <a:t>настроены</a:t>
            </a:r>
            <a:r>
              <a:rPr sz="2600" dirty="0"/>
              <a:t>.</a:t>
            </a:r>
          </a:p>
          <a:p>
            <a:r>
              <a:rPr dirty="0"/>
              <a:t/>
            </a:r>
            <a:br>
              <a:rPr dirty="0"/>
            </a:br>
            <a:r>
              <a:rPr dirty="0" err="1"/>
              <a:t>Ограничения</a:t>
            </a:r>
            <a:r>
              <a:rPr dirty="0"/>
              <a:t>: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Охват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базовых</a:t>
            </a:r>
            <a:r>
              <a:rPr dirty="0"/>
              <a:t> </a:t>
            </a:r>
            <a:r>
              <a:rPr dirty="0" err="1"/>
              <a:t>услуг</a:t>
            </a:r>
            <a:r>
              <a:rPr dirty="0"/>
              <a:t> (</a:t>
            </a:r>
            <a:r>
              <a:rPr dirty="0" err="1"/>
              <a:t>Codelab</a:t>
            </a:r>
            <a:r>
              <a:rPr dirty="0"/>
              <a:t>, БРС).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rPr dirty="0"/>
              <a:t>- </a:t>
            </a:r>
            <a:r>
              <a:rPr dirty="0" err="1"/>
              <a:t>Нет</a:t>
            </a:r>
            <a:r>
              <a:rPr dirty="0"/>
              <a:t> </a:t>
            </a:r>
            <a:r>
              <a:rPr dirty="0" err="1"/>
              <a:t>прямой</a:t>
            </a:r>
            <a:r>
              <a:rPr dirty="0"/>
              <a:t> </a:t>
            </a:r>
            <a:r>
              <a:rPr dirty="0" err="1"/>
              <a:t>интеграции</a:t>
            </a:r>
            <a:r>
              <a:rPr dirty="0"/>
              <a:t> с БД </a:t>
            </a:r>
            <a:r>
              <a:rPr dirty="0" err="1"/>
              <a:t>вуза</a:t>
            </a:r>
            <a:r>
              <a:rPr dirty="0"/>
              <a:t> (Google Sheets в </a:t>
            </a:r>
            <a:r>
              <a:rPr dirty="0" err="1"/>
              <a:t>планах</a:t>
            </a:r>
            <a:r>
              <a:rPr dirty="0"/>
              <a:t>).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600" b="1">
                <a:solidFill>
                  <a:srgbClr val="FFCC00"/>
                </a:solidFill>
              </a:defRPr>
            </a:pPr>
            <a:r>
              <a:t>ПЕРСПЕКТИВЫ РАЗВИТИЯ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7188" y="888953"/>
            <a:ext cx="6069624" cy="532896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6217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888888"/>
                </a:solidFill>
              </a:defRPr>
            </a:pPr>
            <a:r>
              <a:t>ActionQuestion | Команда 8К52Т | ТПУ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70718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CC00"/>
                </a:solidFill>
              </a:defRPr>
            </a:pPr>
            <a:r>
              <a:rPr dirty="0" err="1"/>
              <a:t>Мгновенная</a:t>
            </a:r>
            <a:r>
              <a:rPr dirty="0"/>
              <a:t> </a:t>
            </a:r>
            <a:r>
              <a:rPr dirty="0" err="1"/>
              <a:t>помощь</a:t>
            </a:r>
            <a:r>
              <a:rPr dirty="0"/>
              <a:t> </a:t>
            </a:r>
            <a:r>
              <a:rPr dirty="0" err="1"/>
              <a:t>студентам</a:t>
            </a:r>
            <a:r>
              <a:rPr dirty="0"/>
              <a:t>.</a:t>
            </a:r>
            <a:br>
              <a:rPr dirty="0"/>
            </a:br>
            <a:r>
              <a:rPr dirty="0" err="1"/>
              <a:t>Свобода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рутины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поддержки</a:t>
            </a:r>
            <a:r>
              <a:rPr dirty="0"/>
              <a:t>.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0" y="3657600"/>
            <a:ext cx="1828800" cy="1828800"/>
          </a:xfrm>
          <a:prstGeom prst="rect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1E1E1E"/>
                </a:solidFill>
              </a:defRPr>
            </a:pPr>
            <a:r>
              <a:rPr dirty="0"/>
              <a:t>[ QR КОНТАКТЫ ]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5129" y="3169321"/>
            <a:ext cx="3913742" cy="280535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409</Words>
  <Application>Microsoft Office PowerPoint</Application>
  <PresentationFormat>Экран (4:3)</PresentationFormat>
  <Paragraphs>160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8" baseType="lpstr">
      <vt:lpstr>Arial</vt:lpstr>
      <vt:lpstr>Calibri</vt:lpstr>
      <vt:lpstr>Courier New</vt:lpstr>
      <vt:lpstr>Symbol</vt:lpstr>
      <vt:lpstr>Times New Roman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андрей сосновских</dc:creator>
  <cp:keywords/>
  <dc:description>generated using python-pptx</dc:description>
  <cp:lastModifiedBy>андрей сосновских</cp:lastModifiedBy>
  <cp:revision>7</cp:revision>
  <dcterms:created xsi:type="dcterms:W3CDTF">2013-01-27T09:14:16Z</dcterms:created>
  <dcterms:modified xsi:type="dcterms:W3CDTF">2026-09-11T08:10:42Z</dcterms:modified>
  <cp:category/>
</cp:coreProperties>
</file>